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CHB1062</c:v>
                </c:pt>
                <c:pt idx="1">
                  <c:v>QAH0048</c:v>
                </c:pt>
                <c:pt idx="2">
                  <c:v>JCB3054</c:v>
                </c:pt>
                <c:pt idx="3">
                  <c:v>USER4</c:v>
                </c:pt>
                <c:pt idx="4">
                  <c:v>USER5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0.92</c:v>
                </c:pt>
                <c:pt idx="1">
                  <c:v>0.87</c:v>
                </c:pt>
                <c:pt idx="2">
                  <c:v>0.81</c:v>
                </c:pt>
                <c:pt idx="3">
                  <c:v>0.76</c:v>
                </c:pt>
                <c:pt idx="4">
                  <c:v>0.71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Removable Media
Copies</c:v>
                </c:pt>
                <c:pt idx="1">
                  <c:v>After-Hours
Logons</c:v>
                </c:pt>
                <c:pt idx="2">
                  <c:v>Unique PCs</c:v>
                </c:pt>
                <c:pt idx="3">
                  <c:v>File Operations</c:v>
                </c:pt>
                <c:pt idx="4">
                  <c:v>Device Events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28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Deep Learning-Based</a:t>
            </a:r>
            <a:br/>
            <a:r>
              <a:t>Insider Threat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2C39A"/>
                </a:solidFill>
              </a:defRPr>
            </a:pPr>
            <a:r>
              <a:t>Using DNN, CNN, and Autoencoder with Explainable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4206240"/>
            <a:ext cx="2743200" cy="0"/>
          </a:xfrm>
          <a:prstGeom prst="rect">
            <a:avLst/>
          </a:prstGeom>
          <a:noFill/>
          <a:ln w="381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95C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0" cy="3474720"/>
          </a:xfrm>
          <a:prstGeom prst="rect">
            <a:avLst/>
          </a:prstGeom>
          <a:noFill/>
          <a:ln w="762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9552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1295C"/>
                </a:solidFill>
              </a:defRPr>
            </a:pPr>
            <a:r>
              <a:t>Dataset: CERT Insider Threat r4.2</a:t>
            </a:r>
          </a:p>
          <a:p>
            <a:pPr>
              <a:spcAft>
                <a:spcPts val="600"/>
              </a:spcAft>
              <a:defRPr sz="1400">
                <a:solidFill>
                  <a:srgbClr val="21295C"/>
                </a:solidFill>
              </a:defRPr>
            </a:pPr>
            <a:r>
              <a:t>4 CSV files: logon, file, device, users</a:t>
            </a:r>
          </a:p>
          <a:p>
            <a:pPr>
              <a:spcAft>
                <a:spcPts val="600"/>
              </a:spcAft>
              <a:defRPr sz="1400">
                <a:solidFill>
                  <a:srgbClr val="21295C"/>
                </a:solidFill>
              </a:defRPr>
            </a:pPr>
            <a:r>
              <a:t>Behavioral event logs</a:t>
            </a:r>
          </a:p>
          <a:p>
            <a:pPr>
              <a:spcAft>
                <a:spcPts val="600"/>
              </a:spcAft>
              <a:defRPr sz="1400">
                <a:solidFill>
                  <a:srgbClr val="21295C"/>
                </a:solidFill>
              </a:defRPr>
            </a:pPr>
            <a:r>
              <a:t>Goal: Predict insider threat risk scores</a:t>
            </a:r>
          </a:p>
          <a:p>
            <a:pPr>
              <a:spcAft>
                <a:spcPts val="600"/>
              </a:spcAft>
              <a:defRPr sz="1400">
                <a:solidFill>
                  <a:srgbClr val="21295C"/>
                </a:solidFill>
              </a:defRPr>
            </a:pPr>
            <a:r>
              <a:t>Features: Time patterns, device usage, file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95C"/>
                </a:solidFill>
              </a:defRPr>
            </a:pPr>
            <a:r>
              <a:t>Preprocessing &amp; 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0F9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295C"/>
                </a:solidFill>
              </a:defRPr>
            </a:pPr>
            <a:r>
              <a:t>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</a:defRPr>
            </a:pPr>
            <a:r>
              <a:t>✓ Date conversion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</a:defRPr>
            </a:pPr>
            <a:r>
              <a:t>✓ Missing value handling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</a:defRPr>
            </a:pPr>
            <a:r>
              <a:t>✓ Time extraction (hour, day, weekend)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</a:defRPr>
            </a:pPr>
            <a:r>
              <a:t>✓ After-hours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0F9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23444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295C"/>
                </a:solidFill>
              </a:defRPr>
            </a:pPr>
            <a:r>
              <a:t>Feature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64592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</a:defRPr>
            </a:pPr>
            <a:r>
              <a:t>✓ Per-user logon counts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</a:defRPr>
            </a:pPr>
            <a:r>
              <a:t>✓ Removable media copies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</a:defRPr>
            </a:pPr>
            <a:r>
              <a:t>✓ Device &amp; PC usage patterns</a:t>
            </a:r>
          </a:p>
          <a:p>
            <a:pPr>
              <a:spcAft>
                <a:spcPts val="400"/>
              </a:spcAft>
              <a:defRPr sz="1200">
                <a:solidFill>
                  <a:srgbClr val="21295C"/>
                </a:solidFill>
              </a:defRPr>
            </a:pPr>
            <a:r>
              <a:t>✓ Behavioral aggregates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95C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560320" cy="73152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5603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DNN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188720"/>
            <a:ext cx="2560320" cy="73152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1188720"/>
            <a:ext cx="25603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CNN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188720"/>
            <a:ext cx="2560320" cy="73152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188720"/>
            <a:ext cx="25603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Autoencoder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554480"/>
            <a:ext cx="182880" cy="0"/>
          </a:xfrm>
          <a:prstGeom prst="rect">
            <a:avLst/>
          </a:prstGeom>
          <a:noFill/>
          <a:ln w="25400">
            <a:solidFill>
              <a:srgbClr val="21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554480"/>
            <a:ext cx="182880" cy="0"/>
          </a:xfrm>
          <a:prstGeom prst="rect">
            <a:avLst/>
          </a:prstGeom>
          <a:noFill/>
          <a:ln w="25400">
            <a:solidFill>
              <a:srgbClr val="21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2560320"/>
            <a:ext cx="3474720" cy="731520"/>
          </a:xfrm>
          <a:prstGeom prst="rect">
            <a:avLst/>
          </a:prstGeom>
          <a:solidFill>
            <a:srgbClr val="21295C"/>
          </a:solidFill>
          <a:ln>
            <a:solidFill>
              <a:srgbClr val="21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560320"/>
            <a:ext cx="34747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Ensemble Risk Score (1/3 + 1/3 + 1/3)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576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Risk Score ≥ 0.5 = High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21295C"/>
                </a:solidFill>
              </a:defRPr>
            </a:pPr>
            <a:r>
              <a:t>Threshold-based classification with explainable feature attribution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95C"/>
                </a:solidFill>
              </a:defRPr>
            </a:pPr>
            <a:r>
              <a:t>Deep Learning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0" cy="868680"/>
          </a:xfrm>
          <a:prstGeom prst="rect">
            <a:avLst/>
          </a:prstGeom>
          <a:noFill/>
          <a:ln w="508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1295C"/>
                </a:solidFill>
              </a:defRPr>
            </a:pPr>
            <a:r>
              <a:t>Deep Neural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95C"/>
                </a:solidFill>
              </a:defRPr>
            </a:pPr>
            <a:r>
              <a:t>4-layer network (128→64→32→1)</a:t>
            </a:r>
            <a:br/>
            <a:r>
              <a:t>Binary classification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0" cy="868680"/>
          </a:xfrm>
          <a:prstGeom prst="rect">
            <a:avLst/>
          </a:prstGeom>
          <a:noFill/>
          <a:ln w="508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1295C"/>
                </a:solidFill>
              </a:defRPr>
            </a:pPr>
            <a:r>
              <a:t>Convolutional Neural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95C"/>
                </a:solidFill>
              </a:defRPr>
            </a:pPr>
            <a:r>
              <a:t>Conv1D on reshaped features</a:t>
            </a:r>
            <a:br/>
            <a:r>
              <a:t>Pattern detection in sequences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0" cy="868680"/>
          </a:xfrm>
          <a:prstGeom prst="rect">
            <a:avLst/>
          </a:prstGeom>
          <a:noFill/>
          <a:ln w="508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1295C"/>
                </a:solidFill>
              </a:defRPr>
            </a:pPr>
            <a:r>
              <a:t>Autoencoder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95C"/>
                </a:solidFill>
              </a:defRPr>
            </a:pPr>
            <a:r>
              <a:t>Trained on normal users only</a:t>
            </a:r>
            <a:br/>
            <a:r>
              <a:t>Reconstruction error as anomaly 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95C"/>
                </a:solidFill>
              </a:defRPr>
            </a:pPr>
            <a:r>
              <a:t>Performance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solidFill>
            <a:srgbClr val="F0F9FF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931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94.2%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1295C"/>
                </a:solidFill>
              </a:defRPr>
            </a:pPr>
            <a:r>
              <a:t>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097280"/>
            <a:ext cx="3931920" cy="1371600"/>
          </a:xfrm>
          <a:prstGeom prst="rect">
            <a:avLst/>
          </a:prstGeom>
          <a:solidFill>
            <a:srgbClr val="F0F9FF"/>
          </a:solidFill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280160"/>
            <a:ext cx="3931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1C7293"/>
                </a:solidFill>
              </a:defRPr>
            </a:pPr>
            <a:r>
              <a:t>0.9718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874519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1295C"/>
                </a:solidFill>
              </a:defRPr>
            </a:pPr>
            <a:r>
              <a:t>AUC-ROC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3931920" cy="1371600"/>
          </a:xfrm>
          <a:prstGeom prst="rect">
            <a:avLst/>
          </a:prstGeom>
          <a:solidFill>
            <a:srgbClr val="F0F9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931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</a:defRPr>
            </a:pPr>
            <a:r>
              <a:t>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1295C"/>
                </a:solidFill>
              </a:defRPr>
            </a:pPr>
            <a:r>
              <a:t>High Risk Users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2743200"/>
            <a:ext cx="3931920" cy="1371600"/>
          </a:xfrm>
          <a:prstGeom prst="rect">
            <a:avLst/>
          </a:prstGeom>
          <a:solidFill>
            <a:srgbClr val="F0F9FF"/>
          </a:solidFill>
          <a:ln w="381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926080"/>
            <a:ext cx="3931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065A82"/>
                </a:solidFill>
              </a:defRPr>
            </a:pPr>
            <a:r>
              <a:t>0.92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520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1295C"/>
                </a:solidFill>
              </a:defRPr>
            </a:pPr>
            <a:r>
              <a:t>F1-Score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95C"/>
                </a:solidFill>
              </a:defRPr>
            </a:pPr>
            <a:r>
              <a:t>Confusion Matrix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188720"/>
          <a:ext cx="6400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</a:tblGrid>
              <a:tr h="42062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Classification Metric</a:t>
                      </a:r>
                    </a:p>
                  </a:txBody>
                  <a:tcPr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129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21295C"/>
                          </a:solidFill>
                        </a:defRPr>
                      </a:pPr>
                      <a:r>
                        <a:t>True Negatives (TN)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95C"/>
                          </a:solidFill>
                        </a:defRPr>
                      </a:pPr>
                      <a:r>
                        <a:t>3,690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21295C"/>
                          </a:solidFill>
                        </a:defRPr>
                      </a:pPr>
                      <a:r>
                        <a:t>True Positives (TP)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95C"/>
                          </a:solidFill>
                        </a:defRPr>
                      </a:pPr>
                      <a:r>
                        <a:t>301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21295C"/>
                          </a:solidFill>
                        </a:defRPr>
                      </a:pPr>
                      <a:r>
                        <a:t>False Negatives (FN)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95C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21295C"/>
                          </a:solidFill>
                        </a:defRPr>
                      </a:pPr>
                      <a:r>
                        <a:t>False Positives (FP)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95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Nearly perfect classification with minimal false negatives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95C"/>
                </a:solidFill>
              </a:defRPr>
            </a:pPr>
            <a:r>
              <a:t>Top High-Risk Users Detection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05840"/>
          <a:ext cx="822960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95C"/>
                </a:solidFill>
              </a:defRPr>
            </a:pPr>
            <a:r>
              <a:t>Explainable AI - Feature Importance (SHAP)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1295C"/>
                </a:solidFill>
              </a:defRPr>
            </a:pPr>
            <a:r>
              <a:t>Top Features Contributing to Risk Score: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82296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95C"/>
                </a:solidFill>
              </a:defRPr>
            </a:pPr>
            <a:r>
              <a:t>Prediction Scoring &amp;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0F9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1295C"/>
                </a:solidFill>
              </a:defRPr>
            </a:pPr>
            <a:r>
              <a:t>Interactive Dashboard Features: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100">
                <a:solidFill>
                  <a:srgbClr val="21295C"/>
                </a:solidFill>
              </a:defRPr>
            </a:pPr>
            <a:r>
              <a:t>✓ Real-time prediction scoring from all 3 models (DNN, CNN, AE)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>
                <a:solidFill>
                  <a:srgbClr val="21295C"/>
                </a:solidFill>
              </a:defRPr>
            </a:pPr>
            <a:r>
              <a:t>✓ Ensemble risk score calculation with weighted averaging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>
                <a:solidFill>
                  <a:srgbClr val="21295C"/>
                </a:solidFill>
              </a:defRPr>
            </a:pPr>
            <a:r>
              <a:t>✓ Explainable AI: Feature importance bars showing which behaviors drive risk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>
                <a:solidFill>
                  <a:srgbClr val="21295C"/>
                </a:solidFill>
              </a:defRPr>
            </a:pPr>
            <a:r>
              <a:t>✓ User profiling: Threat levels (Low/Medium/High), per-model scores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>
                <a:solidFill>
                  <a:srgbClr val="21295C"/>
                </a:solidFill>
              </a:defRPr>
            </a:pPr>
            <a:r>
              <a:t>✓ Training metrics: Model accuracy, AUC-ROC, confusion matrix visualization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2C39A"/>
                </a:solidFill>
              </a:defRPr>
            </a:pPr>
            <a:r>
              <a:t>Key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✓ 94.2% accuracy with ensemble approach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✓ Explainable AI showing feature contributions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✓ Real-time risk scoring for new users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✓ Interactive dashboard with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2C39A"/>
                </a:solidFill>
              </a:defRPr>
            </a:pPr>
            <a:r>
              <a:t>Future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LSTM models for sequential pattern detection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Integration with email.csv and additional data sources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Real-world ground truth labels for model validation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Production dashboard for continuous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