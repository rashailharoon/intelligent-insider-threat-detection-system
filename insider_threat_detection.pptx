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Intelligent Insider Threat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0E0EF"/>
                </a:solidFill>
                <a:latin typeface="Calibri"/>
              </a:rPr>
              <a:t>A Deep Learning-Based System for Behavioral Anomaly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566160"/>
            <a:ext cx="57607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CDDEE"/>
                </a:solidFill>
                <a:latin typeface="Calibri"/>
              </a:rPr>
              <a:t>Member 1 </a:t>
            </a:r>
            <a:r>
              <a:rPr lang="en-US" sz="1500" b="0" i="0" dirty="0">
                <a:solidFill>
                  <a:srgbClr val="CCDDEE"/>
                </a:solidFill>
                <a:latin typeface="Calibri"/>
              </a:rPr>
              <a:t>(Noor-</a:t>
            </a:r>
            <a:r>
              <a:rPr lang="en-US" sz="1500" b="0" i="0" dirty="0" err="1">
                <a:solidFill>
                  <a:srgbClr val="CCDDEE"/>
                </a:solidFill>
                <a:latin typeface="Calibri"/>
              </a:rPr>
              <a:t>ul</a:t>
            </a:r>
            <a:r>
              <a:rPr lang="en-US" sz="1500" b="0" i="0" dirty="0">
                <a:solidFill>
                  <a:srgbClr val="CCDDEE"/>
                </a:solidFill>
                <a:latin typeface="Calibri"/>
              </a:rPr>
              <a:t>-</a:t>
            </a:r>
            <a:r>
              <a:rPr lang="en-US" sz="1500" b="0" i="0" dirty="0" err="1">
                <a:solidFill>
                  <a:srgbClr val="CCDDEE"/>
                </a:solidFill>
                <a:latin typeface="Calibri"/>
              </a:rPr>
              <a:t>Seher</a:t>
            </a:r>
            <a:r>
              <a:rPr lang="en-US" sz="1500" b="0" i="0" dirty="0">
                <a:solidFill>
                  <a:srgbClr val="CCDDEE"/>
                </a:solidFill>
                <a:latin typeface="Calibri"/>
              </a:rPr>
              <a:t>)</a:t>
            </a:r>
            <a:r>
              <a:rPr sz="1500" b="0" i="0" dirty="0">
                <a:solidFill>
                  <a:srgbClr val="CCDDEE"/>
                </a:solidFill>
                <a:latin typeface="Calibri"/>
              </a:rPr>
              <a:t> |  Data &amp; Preprocessing + DNN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CDDEE"/>
                </a:solidFill>
                <a:latin typeface="Calibri"/>
              </a:rPr>
              <a:t>Member 2 </a:t>
            </a:r>
            <a:r>
              <a:rPr lang="en-US" sz="1500" b="0" i="0" dirty="0">
                <a:solidFill>
                  <a:srgbClr val="CCDDEE"/>
                </a:solidFill>
                <a:latin typeface="Calibri"/>
              </a:rPr>
              <a:t>(Rashail Haroon)</a:t>
            </a:r>
            <a:r>
              <a:rPr sz="1500" b="0" i="0" dirty="0">
                <a:solidFill>
                  <a:srgbClr val="CCDDEE"/>
                </a:solidFill>
                <a:latin typeface="Calibri"/>
              </a:rPr>
              <a:t> |  CNN + Autoencoder + Risk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  <a:latin typeface="Calibri"/>
              </a:rPr>
              <a:t>CERT r4.2 Dataset  •  Deep Learning  •  Anomaly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566160" cy="51206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" cy="51206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  <a:latin typeface="Calibri"/>
              </a:rPr>
              <a:t>What is Insider Threat?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2918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CCDDEE"/>
                </a:solidFill>
                <a:latin typeface="Calibri"/>
              </a:rPr>
              <a:t>• Malicious actions by authorized employees</a:t>
            </a:r>
          </a:p>
          <a:p>
            <a:r>
              <a:rPr sz="1300" dirty="0">
                <a:solidFill>
                  <a:srgbClr val="CCDDEE"/>
                </a:solidFill>
                <a:latin typeface="Calibri"/>
              </a:rPr>
              <a:t>• Includes data theft, sabotage &amp; espionage</a:t>
            </a:r>
          </a:p>
          <a:p>
            <a:r>
              <a:rPr sz="1300" dirty="0">
                <a:solidFill>
                  <a:srgbClr val="CCDDEE"/>
                </a:solidFill>
                <a:latin typeface="Calibri"/>
              </a:rPr>
              <a:t>• Attacker already has legitimate access</a:t>
            </a:r>
          </a:p>
          <a:p>
            <a:r>
              <a:rPr sz="1300" dirty="0">
                <a:solidFill>
                  <a:srgbClr val="CCDDEE"/>
                </a:solidFill>
                <a:latin typeface="Calibri"/>
              </a:rPr>
              <a:t>• Often invisible to traditional firewalls</a:t>
            </a:r>
          </a:p>
          <a:p>
            <a:r>
              <a:rPr sz="1300" dirty="0">
                <a:solidFill>
                  <a:srgbClr val="CCDDEE"/>
                </a:solidFill>
                <a:latin typeface="Calibri"/>
              </a:rPr>
              <a:t>• Causes millions in organizational losses</a:t>
            </a:r>
            <a:endParaRPr lang="en-US" sz="1300" dirty="0">
              <a:solidFill>
                <a:srgbClr val="CCDDEE"/>
              </a:solidFill>
              <a:latin typeface="Calibri"/>
            </a:endParaRPr>
          </a:p>
          <a:p>
            <a:endParaRPr lang="en-US" sz="1300" dirty="0">
              <a:solidFill>
                <a:srgbClr val="CCDDEE"/>
              </a:solidFill>
              <a:latin typeface="Calibri"/>
            </a:endParaRPr>
          </a:p>
          <a:p>
            <a:endParaRPr lang="en-US" sz="1300" dirty="0">
              <a:solidFill>
                <a:srgbClr val="CCDDEE"/>
              </a:solidFill>
              <a:latin typeface="Calibri"/>
            </a:endParaRPr>
          </a:p>
          <a:p>
            <a:endParaRPr lang="en-US" sz="1300" dirty="0">
              <a:solidFill>
                <a:srgbClr val="CCDDEE"/>
              </a:solidFill>
              <a:latin typeface="Calibri"/>
            </a:endParaRPr>
          </a:p>
          <a:p>
            <a:endParaRPr lang="en-US" sz="1300" dirty="0">
              <a:solidFill>
                <a:srgbClr val="CCDDEE"/>
              </a:solidFill>
              <a:latin typeface="Calibri"/>
            </a:endParaRPr>
          </a:p>
          <a:p>
            <a:endParaRPr lang="en-US" sz="1300" dirty="0">
              <a:solidFill>
                <a:srgbClr val="CCDDEE"/>
              </a:solidFill>
              <a:latin typeface="Calibri"/>
            </a:endParaRPr>
          </a:p>
          <a:p>
            <a:endParaRPr lang="en-US" sz="1300" dirty="0">
              <a:solidFill>
                <a:srgbClr val="CCDDEE"/>
              </a:solidFill>
              <a:latin typeface="Calibri"/>
            </a:endParaRPr>
          </a:p>
          <a:p>
            <a:endParaRPr sz="1300" dirty="0">
              <a:solidFill>
                <a:srgbClr val="CCDDE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06240" y="1005840"/>
            <a:ext cx="3566160" cy="51206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06240" y="1005840"/>
            <a:ext cx="54864" cy="5120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Why is it Hard to Detect?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29184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CCDDEE"/>
                </a:solidFill>
                <a:latin typeface="Calibri"/>
              </a:rPr>
              <a:t>• Normal vs malicious behavior looks similar</a:t>
            </a:r>
          </a:p>
          <a:p>
            <a:r>
              <a:rPr sz="1300" dirty="0">
                <a:solidFill>
                  <a:srgbClr val="CCDDEE"/>
                </a:solidFill>
                <a:latin typeface="Calibri"/>
              </a:rPr>
              <a:t>• Rare events hidden in millions of logs</a:t>
            </a:r>
          </a:p>
          <a:p>
            <a:r>
              <a:rPr sz="1300" dirty="0">
                <a:solidFill>
                  <a:srgbClr val="CCDDEE"/>
                </a:solidFill>
                <a:latin typeface="Calibri"/>
              </a:rPr>
              <a:t>• Rule-based systems miss evolving patterns</a:t>
            </a:r>
          </a:p>
          <a:p>
            <a:r>
              <a:rPr sz="1300" dirty="0">
                <a:solidFill>
                  <a:srgbClr val="CCDDEE"/>
                </a:solidFill>
                <a:latin typeface="Calibri"/>
              </a:rPr>
              <a:t>• High false positive rates cause alert fatigue</a:t>
            </a:r>
          </a:p>
          <a:p>
            <a:r>
              <a:rPr sz="1300" dirty="0">
                <a:solidFill>
                  <a:srgbClr val="CCDDEE"/>
                </a:solidFill>
                <a:latin typeface="Calibri"/>
              </a:rPr>
              <a:t>• Human analysts cannot scale to big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05840"/>
            <a:ext cx="3566160" cy="51206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005840"/>
            <a:ext cx="54864" cy="5120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0972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How Deep Learning Helps?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508760"/>
            <a:ext cx="329184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Learns normal behavior automatically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Detects subtle deviations over time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CNN captures sequential activity patterns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Autoencoder flags reconstruction anomalies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DNN classifies high-risk users accurately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Dataset — CERT Insider Threat r4.2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651760" cy="1280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/>
              </a:rPr>
              <a:t>4,000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  <a:latin typeface="Calibri"/>
              </a:rPr>
              <a:t>Employees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05840"/>
            <a:ext cx="2651760" cy="1280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005840"/>
            <a:ext cx="2651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143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/>
              </a:rPr>
              <a:t>17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  <a:latin typeface="Calibri"/>
              </a:rPr>
              <a:t>of Activity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651760" cy="1280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143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/>
              </a:rPr>
              <a:t>32M+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  <a:latin typeface="Calibri"/>
              </a:rPr>
              <a:t>Log Events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005840"/>
            <a:ext cx="2651760" cy="1280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1005840"/>
            <a:ext cx="2651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143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/>
              </a:rPr>
              <a:t>4 CSV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  <a:latin typeface="Calibri"/>
              </a:rPr>
              <a:t>Used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06040"/>
            <a:ext cx="2651760" cy="3566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606040"/>
            <a:ext cx="54864" cy="3566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logon.csv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54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  <a:latin typeface="Calibri"/>
              </a:rPr>
              <a:t>id, date, user, pc, activity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80560"/>
            <a:ext cx="2377440" cy="2743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5262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Calibri"/>
              </a:rPr>
              <a:t>Logon / Logoff events per user per PC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606040"/>
            <a:ext cx="2651760" cy="3566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91840" y="2606040"/>
            <a:ext cx="54864" cy="3566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29000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device.csv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154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  <a:latin typeface="Calibri"/>
              </a:rPr>
              <a:t>id, date, user, pc, file_tree, activity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4480560"/>
            <a:ext cx="2377440" cy="2743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29000" y="45262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Calibri"/>
              </a:rPr>
              <a:t>USB Connect / Disconnect events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606040"/>
            <a:ext cx="2651760" cy="3566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2606040"/>
            <a:ext cx="54864" cy="3566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file.csv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154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  <a:latin typeface="Calibri"/>
              </a:rPr>
              <a:t>id, date, user, pc, filename, activity,
to_removable_media, from_removable_media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480560"/>
            <a:ext cx="2377440" cy="2743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45262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Calibri"/>
              </a:rPr>
              <a:t>File open, write, copy actions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2606040"/>
            <a:ext cx="2651760" cy="3566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4000" y="2606040"/>
            <a:ext cx="54864" cy="3566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81160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users.csv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154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  <a:latin typeface="Calibri"/>
              </a:rPr>
              <a:t>user_id, role, department, team,
supervisor, start_date, end_date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4480560"/>
            <a:ext cx="2377440" cy="2743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81160" y="45262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Calibri"/>
              </a:rPr>
              <a:t>Employee metadata &amp; org 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99"/>
                </a:solidFill>
                <a:latin typeface="Calibri"/>
              </a:rPr>
              <a:t>Source: Carnegie Mellon University SEI — Synthetic insider threat benchmark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1691640" cy="3840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16916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Raw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011680"/>
            <a:ext cx="1508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logon.csv
device.csv
file.csv
users.csv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9260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95144" y="1371600"/>
            <a:ext cx="1691640" cy="3840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95144" y="1371600"/>
            <a:ext cx="169164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95144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6584" y="2011680"/>
            <a:ext cx="1508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Date parsing
Missing values
Feature extraction
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2504" y="29260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371600"/>
            <a:ext cx="1691640" cy="3840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248" y="1371600"/>
            <a:ext cx="1691640" cy="502920"/>
          </a:xfrm>
          <a:prstGeom prst="rect">
            <a:avLst/>
          </a:prstGeom>
          <a:solidFill>
            <a:srgbClr val="E07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0248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Feature
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011680"/>
            <a:ext cx="1508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Per-user aggregation
Time features
Behavioral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7" y="29260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1371600"/>
            <a:ext cx="1691640" cy="3840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45352" y="1371600"/>
            <a:ext cx="1691640" cy="502920"/>
          </a:xfrm>
          <a:prstGeom prst="rect">
            <a:avLst/>
          </a:prstGeom>
          <a:solidFill>
            <a:srgbClr val="A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011680"/>
            <a:ext cx="1508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DNN (Member 1)
CNN (Member 2)
Autoencoder (M2)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9260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371600"/>
            <a:ext cx="1691640" cy="3840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0456" y="1371600"/>
            <a:ext cx="169164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0456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Risk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2011680"/>
            <a:ext cx="1508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0.33×DNN
+0.33×CNN
+0.33×AE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7816" y="29260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95560" y="1371600"/>
            <a:ext cx="1691640" cy="3840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195560" y="1371600"/>
            <a:ext cx="169164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95560" y="13898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2011680"/>
            <a:ext cx="1508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Flag top-risk
users for
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  <a:latin typeface="Calibri"/>
              </a:rPr>
              <a:t>Member 1 owns: Preprocessing → Feature Engineering → DNN      |      Member 2 owns: CNN → Autoencoder → Risk Score → Alert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Member 1 — DNN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E0EF"/>
                </a:solidFill>
                <a:latin typeface="Calibri"/>
              </a:rPr>
              <a:t>Deep Neural Network for Insider Threat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749039" cy="48463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" cy="4846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Features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47472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total_logons — login frequency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afterhours_logons — after 6pm activity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weekend_logons — weekend usage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unique_pcs — machines accessed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total_file_actions — file operations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removable_media_copies — USB exports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files_from_removable — USB imports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device_connects / disconnects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474720" cy="48463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54864" cy="4846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40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DNN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19"/>
            <a:ext cx="32004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Input Layer — 8 behavioral features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Dense(128) + ReLU + Dropout(0.3)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Dense(64)  + ReLU + Dropout(0.3)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Dense(32)  + ReLU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Output: Dense(1) + Sigmoid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Loss: Binary Crossentropy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Optimizer: Adam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Epochs: 10  |  Batch: 32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657600" cy="2286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54864" cy="2286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  <a:latin typeface="Calibri"/>
              </a:rPr>
              <a:t>Risk Label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19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High removable media copies AND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High after-hours logons → threat=1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Otherwise → threat=0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Rule-based labeling (no ground truth)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931920"/>
            <a:ext cx="3657600" cy="2286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3931920"/>
            <a:ext cx="54864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40233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3484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Classification report generated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Train/Val accuracy plotted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Outputs: DNN probability scores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Feeds into combined risk scoring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Member 2 — CNN + Autoencoder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E0EF"/>
                </a:solidFill>
                <a:latin typeface="Calibri"/>
              </a:rPr>
              <a:t>Pattern Detection + Anomaly Detection for Insider Threat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48463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" cy="4846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CNN Model — Activity Pattern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0352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Input: 8 behavioral features reshaped as (8, 1) sequence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Conv1D(32, kernel=2) + ReLU — learns local activity patterns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MaxPooling1D — reduces dimensionality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Flatten → Dense(32) + ReLU → Dense(1) + Sigmoid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Labels from rule-based risk_label (same as DNN)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Train/test split: 80% / 20%  |  Epochs: 20  |  Batch: 32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Output: CNN threat probability per user (0 to 1)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577840" cy="48463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4864" cy="4846320"/>
          </a:xfrm>
          <a:prstGeom prst="rect">
            <a:avLst/>
          </a:prstGeom>
          <a:solidFill>
            <a:srgbClr val="A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55CC"/>
                </a:solidFill>
                <a:latin typeface="Calibri"/>
              </a:rPr>
              <a:t>Autoencoder — Anomaly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30352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Trained ONLY on normal (non-threat) users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Input → Dense(16) → Bottleneck(8) → Dense(16) → Output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Activation: ReLU (encoder) + Sigmoid (output)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Loss: MSE  |  Optimizer: Adam  |  Epochs: 50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Reconstruction error = anomaly score per user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Threshold: 90th percentile of MSE scores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High reconstruction error → user flagged as anomaly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Risk Scoring — Combining All 3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05840"/>
            <a:ext cx="9418320" cy="11887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005840"/>
            <a:ext cx="9418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078992"/>
            <a:ext cx="9418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Risk Score  =  (0.33 × DNN Score)  +  (0.33 × CNN Score)  +  (0.33 × Autoencoder Error)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3474720" cy="2286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4D8"/>
                </a:solidFill>
                <a:latin typeface="Calibri"/>
              </a:rPr>
              <a:t>DNN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DEE"/>
                </a:solidFill>
                <a:latin typeface="Calibri"/>
              </a:rPr>
              <a:t>Member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Binary classifier output
(sigmoid probability)
Range: 0.0 → 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423160"/>
            <a:ext cx="3474720" cy="2286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423160"/>
            <a:ext cx="34747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514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39C12"/>
                </a:solidFill>
                <a:latin typeface="Calibri"/>
              </a:rPr>
              <a:t>CNN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DEE"/>
                </a:solidFill>
                <a:latin typeface="Calibri"/>
              </a:rPr>
              <a:t>Member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429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Pattern-based classifier
(sigmoid probability)
Range: 0.0 → 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423160"/>
            <a:ext cx="3474720" cy="2286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423160"/>
            <a:ext cx="3474720" cy="54864"/>
          </a:xfrm>
          <a:prstGeom prst="rect">
            <a:avLst/>
          </a:prstGeom>
          <a:solidFill>
            <a:srgbClr val="A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514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055CC"/>
                </a:solidFill>
                <a:latin typeface="Calibri"/>
              </a:rPr>
              <a:t>Autoencoder
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DEE"/>
                </a:solidFill>
                <a:latin typeface="Calibri"/>
              </a:rPr>
              <a:t>Member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29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Normalized reconstruction
error (MSE)
Range: 0.0 → 1.0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83480"/>
            <a:ext cx="5303520" cy="16002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983480"/>
            <a:ext cx="54864" cy="160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  <a:latin typeface="Calibri"/>
              </a:rPr>
              <a:t>Threshold &amp; Flagging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86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Users with risk_score &gt; 0.5 flagged as insider threats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Top 10 highest-risk users reported for investigation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983480"/>
            <a:ext cx="5623560" cy="16002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983480"/>
            <a:ext cx="54864" cy="1600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50749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Evaluation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48640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Classification Report: Precision, Recall, F1-Score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AUC-ROC Score computed on final combined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3200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" cy="3200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What We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Loaded &amp; preprocessed full CERT r4.2 dataset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Engineered behavioral features from 4 log files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Built DNN classifier (Member 1)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Built CNN pattern detector (Member 2)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Built Autoencoder anomaly detector (Member 2)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Combined outputs into unified risk score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Evaluated with F1-Score and AUC-ROC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05840"/>
            <a:ext cx="5577840" cy="3200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05840"/>
            <a:ext cx="54864" cy="3200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EE"/>
                </a:solidFill>
                <a:latin typeface="Calibri"/>
              </a:rPr>
              <a:t>• Tune model hyperparameters for better accuracy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Add email.csv for richer behavioral features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Use real ground truth labels from answers file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Add LSTM for sequential time-series modeling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Deploy as real-time alerting dashboard</a:t>
            </a:r>
          </a:p>
          <a:p>
            <a:r>
              <a:rPr sz="1300">
                <a:solidFill>
                  <a:srgbClr val="CCDDEE"/>
                </a:solidFill>
                <a:latin typeface="Calibri"/>
              </a:rPr>
              <a:t>• Test on full dataset without row limits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11430000" cy="2011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54864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74920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1" dirty="0">
                <a:solidFill>
                  <a:srgbClr val="CCDDEE"/>
                </a:solidFill>
                <a:latin typeface="Calibri"/>
              </a:rPr>
              <a:t>https://github.com/RashailHaroon/Intelligent-Insider-Threat-Detection-System.git</a:t>
            </a:r>
            <a:endParaRPr sz="1300" b="0" i="1" dirty="0">
              <a:solidFill>
                <a:srgbClr val="CCDDE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074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Python  •  TensorFlow / Keras  •  Pandas  •  Scikit-learn  •  Google Colab  •  CERT r4.2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  <a:latin typeface="Calibri"/>
              </a:rPr>
              <a:t>Dataset: CERT Insider Threat r4.2  —  Carnegie Mellon University SEI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  <a:latin typeface="Calibri"/>
              </a:rPr>
              <a:t>Models: DNN + CNN + Autoencoder  |  Risk Score: Weighted ensemble of all 3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1092</Words>
  <Application>Microsoft Office PowerPoint</Application>
  <PresentationFormat>Custom</PresentationFormat>
  <Paragraphs>157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Rashail Haroon</cp:lastModifiedBy>
  <cp:revision>2</cp:revision>
  <dcterms:created xsi:type="dcterms:W3CDTF">2013-01-27T09:14:16Z</dcterms:created>
  <dcterms:modified xsi:type="dcterms:W3CDTF">2026-05-08T03:57:25Z</dcterms:modified>
  <cp:category/>
</cp:coreProperties>
</file>